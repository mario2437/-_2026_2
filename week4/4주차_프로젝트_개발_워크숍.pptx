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0000" y="1500000"/>
            <a:ext cx="95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A5B4CB"/>
                </a:solidFill>
                <a:latin typeface="맑은 고딕"/>
                <a:ea typeface="맑은 고딕"/>
              </a:rPr>
              <a:t>머신러닝 프로젝트 (RISE)  ·  4주차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2000000"/>
            <a:ext cx="9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프로젝트 개발
워크숍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365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DDE3EE"/>
                </a:solidFill>
                <a:latin typeface="맑은 고딕"/>
                <a:ea typeface="맑은 고딕"/>
              </a:rPr>
              <a:t>"오늘 수업이 끝날 때 내 앱이 한 번은 끝까지 돌아가야 한다"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450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이론 30분: 기능 명세·작업 분해 → 커밋 리듬·되돌리기·짝 리뷰 → AI 규칙(CLAUDE.md)과 품질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483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워크숍 90분: 체크포인트 3개 — 기능 명세(0:40) · 중간 데모(1:20) · 피드백(1:50)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516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오늘의 결과물: 기능 명세서 · 동작하는 프로토타입 · 교수 피드백 메모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학습목표와 오늘의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강의는 앞 30분뿐. 나머지는 자기 자리에서 — 교수·TA가 자리를 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3600000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36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32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학습목표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3240000" cy="2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사용자 스토리를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우선순위(MoSCoW)와 완료 조건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이 있는 기능 명세로 만든다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작업 단위마다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커밋·되돌리기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하고 옆 사람과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짝 리뷰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AI 규칙 파일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(CLAUDE.md)과 품질 체크리스트로 생성 코드의 편차를 줄인다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중간 데모에서 피드백을 받고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범위를 조정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한다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410000" y="1400000"/>
          <a:ext cx="7222000" cy="2267400"/>
        </p:xfrm>
        <a:graphic>
          <a:graphicData uri="http://schemas.openxmlformats.org/drawingml/2006/table">
            <a:tbl>
              <a:tblPr firstRow="0" bandRow="0"/>
              <a:tblGrid>
                <a:gridCol w="1000000"/>
                <a:gridCol w="3300000"/>
                <a:gridCol w="2922000"/>
              </a:tblGrid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형태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기획서 피드백 요약 (전체 공통 5가지)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10분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1 기능 명세·작업 분해 · PART 2 커밋 리듬·짝 리뷰 · PART 3 AI 규칙·품질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30분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0:40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체크포인트 1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기능 명세서 제출 → 스프린트 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워크숍 40분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1:20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체크포인트 2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짝 데모 (3분씩 교대) + 교수·TA 순회 → 스프린트 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워크숍 30분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1:50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체크포인트 3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피드백 메모 · 5주차 발표 안내 · 과제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0000" y="4400000"/>
            <a:ext cx="11072000" cy="8286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4460000"/>
            <a:ext cx="50000" cy="7086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500000"/>
            <a:ext cx="10732000" cy="628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준비물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준비물: 내 프로젝트 폴더(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~/work/…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) · 3주차 앱이 내 앱 주소에서 도는 상태 · 데이터 파일 · 기획서(템플릿 01) ·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templates/02_기능_명세서_템플릿.md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·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03_AI_활용_기록_템플릿.md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. 짝(옆 사람)은 수업 시작 때 정한다.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기획서 피드백 — 전체 공통 다섯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개별 피드백은 자리에서. 여기서는 여러 기획서에 반복된 것만 (강사가 실제 기획서를 보고 갱신)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520000"/>
        </p:xfrm>
        <a:graphic>
          <a:graphicData uri="http://schemas.openxmlformats.org/drawingml/2006/table">
            <a:tbl>
              <a:tblPr firstRow="0" bandRow="0"/>
              <a:tblGrid>
                <a:gridCol w="2600000"/>
                <a:gridCol w="4200000"/>
                <a:gridCol w="4272000"/>
              </a:tblGrid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자주 보인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문제인가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오늘 고치는 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Must 기능이 5개 이상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4주차 하루로는 3개도 빠듯. 시연에서 "반쯤 되는 것 5개"는 0점에 가깝다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체크포인트 1에서 Must 3개로 자르고 나머지는 Should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사용자가 "모든 사람"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화면·문구·기본값을 정할 기준이 없어 AI가 추측한다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기획서의 한 사람(페르소나)을 프롬프트 [맥락]에 넣기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데이터가 "구할 예정"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 없이는 화면 1개도 실제로 못 만든다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오늘 0:40까지 없으면 수업 제공 데이터 6종 중 하나로 교체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예측 기능이 없다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2·3단계에서 이 앱에 붙일 것이 없어진다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"입력 → 예측값" 한 줄 추가 (규칙 기반 자리라도)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순서가 없다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화면부터 시작하면 붙일 로직이 없어 가짜 값으로 끝난다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로직 → 데이터 → 화면 → 운영·문서 순서를 명세에 적는다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기능 명세와 작업 분해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"무엇을 만들지"가 문장으로 있어야 90분 뒤에 끝까지 도는 것이 남는다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E8C8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사용자 스토리와 MoSCoW 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완료 조건 (Definition of Done)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작업 분해 — 화면 · 로직 · 데이터 · 배포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체크포인트 1 기능 명세서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53412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기능 명세와 작업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사용자 스토리와 MoSCoW — 기능 목록을 자르는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스토리 형식은 2주차와 같다. 오늘 더하는 것은 우선순위와 "몇 번째로·언제까지"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393700"/>
        </p:xfrm>
        <a:graphic>
          <a:graphicData uri="http://schemas.openxmlformats.org/drawingml/2006/table">
            <a:tbl>
              <a:tblPr firstRow="0" bandRow="0"/>
              <a:tblGrid>
                <a:gridCol w="900000"/>
                <a:gridCol w="4600000"/>
                <a:gridCol w="1400000"/>
                <a:gridCol w="1100000"/>
                <a:gridCol w="30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사용자 스토리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우선순위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완료 조건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고객관리팀원으로서 위험 고객을 빨리 찾기 위해 고객 정보를 입력하면 위험 점수를 보고 싶다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Must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폼 제출 → 점수·근거 표시, 빈 값 방지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팀원으로서 전체 추세를 알기 위해 계약 유형별 이탈률 차트를 보고 싶다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Must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필터 변경 → 차트 갱신, 0명일 때 오류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팀장으로서 보고를 위해 조회 이력을 CSV로 내려받고 싶다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Must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버튼 → 파일 저장, 열 5개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팀원으로서 고위험 고객에게 보낼 문자 초안을 자동으로 받고 싶다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Should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(5주차 이후)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관리자로서 로그인해서 팀별 이력을 보고 싶다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Won't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1단계 제외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0000" y="405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Must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없으면 시연이 성립하지 않는 것.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3개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Should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시간이 남으면. 스프린트 2에서만 손댄다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Could / Won't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적어 두되 오늘은 안 한다 — "안 하기로 한 것"이 명세의 절반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000" y="4050000"/>
            <a:ext cx="5400000" cy="77150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4110000"/>
            <a:ext cx="50000" cy="651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32000" y="4150000"/>
            <a:ext cx="50600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맑은 고딕"/>
                <a:ea typeface="맑은 고딕"/>
              </a:rPr>
              <a:t>실무에서 이렇게 틀린다 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완료 조건이 없는 스토리는 "다 됐다"가 사람마다 다르다. </a:t>
            </a: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눈으로 확인 가능한 문장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("버튼 → 파일 저장")으로. 중간 데모에서 교수는 이 열만 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53412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기능 명세와 작업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작업 분해 — 한 스토리를 네 종류의 일로 쪼갠다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화면·로직·데이터·운영은 서로 다른 파일 → 30분 단위로 순서대로, 하나 끝날 때마다 커밋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8C86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① 로직
core.py · 검증 ·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43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8C86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② 데이터
data/ · 전처리 · 샘플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26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8C86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③ 화면
pages/*.py · 위젯 · 레이아웃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9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09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8C86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④ 운영·문서
README · CLAUDE.md · 앱 실행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0000" y="2020000"/>
          <a:ext cx="11072000" cy="1360000"/>
        </p:xfrm>
        <a:graphic>
          <a:graphicData uri="http://schemas.openxmlformats.org/drawingml/2006/table">
            <a:tbl>
              <a:tblPr firstRow="0" bandRow="0"/>
              <a:tblGrid>
                <a:gridCol w="1100000"/>
                <a:gridCol w="2500000"/>
                <a:gridCol w="2500000"/>
                <a:gridCol w="2400000"/>
                <a:gridCol w="2572000"/>
              </a:tblGrid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스토리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로직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데이터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운영·문서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US-1 위험 점수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폼 5입력 · 결과 · 이력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churn_score()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+ 테스트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 범위 확인용 통계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README 사용법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US-2 차트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사이드바 필터 · 차트 2개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churn_rate_by()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함수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CSV 정리 · 열 이름 고정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data/README.md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열 목록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US-3 CSV 다운로드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download_button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이력 → DataFrame 변환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앱 재시작 · 화면 확인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0000" y="350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한 작업의 크기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30분 안에 끝나고, 끝나면 눈으로 확인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되는 크기. 넘으면 더 쪼갠다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순서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로직·데이터가 먼저 되면 화면이 붙일 것이 생긴다. 로직이 막히면 가짜 반환값(dict 고정)으로 화면을 먼저 — 단, 커밋 메시지에 "가짜"라고 적는다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표시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SPEC.md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아래 표 하나: 할 일 / 진행 중 / 확인 대기 / 끝 (커밋할 때 갱신)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2000" y="3500000"/>
            <a:ext cx="5400000" cy="77150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2000" y="3560000"/>
            <a:ext cx="50000" cy="6515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32000" y="3600000"/>
            <a:ext cx="50600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AI 프롬프트도 이 단위로 쓴다 — "US-2의 로직 함수 </a:t>
            </a:r>
            <a:r>
              <a:rPr sz="1000" b="0" i="0">
                <a:solidFill>
                  <a:srgbClr val="1F4E79"/>
                </a:solidFill>
                <a:latin typeface="맑은 고딕"/>
                <a:ea typeface="맑은 고딕"/>
              </a:rPr>
              <a:t>churn_rate_by(df, col)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만, core.py에, 테스트 포함". 스토리 전체를 한 프롬프트에 넣으면 네 종류 파일이 한꺼번에 바뀌어 리뷰가 불가능하다.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153412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기능 명세와 작업 분해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3412" y="300000"/>
            <a:ext cx="845820" cy="250000"/>
          </a:xfrm>
          <a:prstGeom prst="roundRect">
            <a:avLst>
              <a:gd name="adj" fmla="val 50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0E8C86"/>
                </a:solidFill>
                <a:latin typeface="맑은 고딕"/>
                <a:ea typeface="맑은 고딕"/>
              </a:rPr>
              <a:t>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체크포인트 1 (0:40) — 기능 명세서 제출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1F4E79"/>
                </a:solidFill>
                <a:latin typeface="맑은 고딕"/>
                <a:ea typeface="맑은 고딕"/>
              </a:rPr>
              <a:t>templates/02_기능_명세서_템플릿.md</a:t>
            </a: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를 내 폴더 루트에 </a:t>
            </a:r>
            <a:r>
              <a:rPr sz="1250" b="0" i="0">
                <a:solidFill>
                  <a:srgbClr val="1F4E79"/>
                </a:solidFill>
                <a:latin typeface="맑은 고딕"/>
                <a:ea typeface="맑은 고딕"/>
              </a:rPr>
              <a:t>SPEC.md</a:t>
            </a: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로 커밋. 교수·TA가 자리를 돌며 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0000" y="1400000"/>
          <a:ext cx="11072000" cy="2040000"/>
        </p:xfrm>
        <a:graphic>
          <a:graphicData uri="http://schemas.openxmlformats.org/drawingml/2006/table">
            <a:tbl>
              <a:tblPr firstRow="0" bandRow="0"/>
              <a:tblGrid>
                <a:gridCol w="2800000"/>
                <a:gridCol w="8272000"/>
              </a:tblGrid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통과 기준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 방법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Must 스토리 3개 이하, 각각 완료 조건 있음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완료 조건이 "눈으로 확인 가능한 문장"인가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화면 ↔ 스토리 매핑 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스토리 없는 화면, 화면 없는 스토리가 없는가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순서와 예상 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스토리마다 몇 번째·몇 분인가 — 합이 60분을 넘으면 Must를 줄인다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 파일이 내 폴더에 있음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data/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폴더 + README에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shape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·열 목록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Won't 목록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적어도 2개 — 안 하기로 한 것이 있는가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0000" y="3700000"/>
            <a:ext cx="11072000" cy="6000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0000" y="3760000"/>
            <a:ext cx="50000" cy="480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0000" y="3800000"/>
            <a:ext cx="10732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운영 규칙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통과하지 못하면 스프린트 1 대신 명세를 먼저 고친다 —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명세 없이 개발한 40분은 대부분 버려진다.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통과하면 바로 스프린트 1: 로직 → 데이터 → 화면 순서로.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혼자서도 협업처럼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커밋 리듬 · 되돌리기 · 짝 리뷰 — 혼자 만드는 앱에도 "다른 눈"과 "되돌릴 지점"이 필요하다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커밋 리듬 — 작업 하나 · 확인 · 커밋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편집기와 Claude Code의 동시 편집 충돌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개인 작업 규칙 다섯 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.gitignore · secrets · Claude Code 세션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97379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혼자서도 협업처럼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커밋 리듬 — 작업 하나 · 실행 확인 · 커밋 · 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내 프로젝트 폴더(</a:t>
            </a:r>
            <a:r>
              <a:rPr sz="1250" b="0" i="0">
                <a:solidFill>
                  <a:srgbClr val="1F4E79"/>
                </a:solidFill>
                <a:latin typeface="맑은 고딕"/>
                <a:ea typeface="맑은 고딕"/>
              </a:rPr>
              <a:t>~/work/…</a:t>
            </a: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)의 로컬 Git. 30분 단위 작업마다 커밋하면 AI가 망친 파일을 언제든 되돌릴 수 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817176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00000" y="1490000"/>
            <a:ext cx="447040" cy="20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리듬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760000"/>
            <a:ext cx="5080000" cy="23971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시작: 내 폴더, 지금 상태 확인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cd ~/work/churn_check &amp;&amp; git status &amp;&amp; git log --oneline -5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작업 하나 (예: US-2 차트) — Claude Code 요청 · 실행 확인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claude -c                       </a:t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직전 대화 이어서 (같은 작업이면)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… pages/1_*.py 수정 요청 → y → streamlit 화면 확인 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되면 커밋 (스토리 ID + 내용)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git add pages/1_데이터_탐색.py core.py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git commit -m "US-2: 계약 유형별 이탈률 차트"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안 되면 되돌리고 다시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git restore pages/1_데이터_탐색.py      </a:t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마지막 커밋 상태로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git diff                                </a:t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무엇이 바뀌었는지 먼저 읽기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2000" y="1400000"/>
          <a:ext cx="5400000" cy="2471100"/>
        </p:xfrm>
        <a:graphic>
          <a:graphicData uri="http://schemas.openxmlformats.org/drawingml/2006/table">
            <a:tbl>
              <a:tblPr firstRow="0" bandRow="0"/>
              <a:tblGrid>
                <a:gridCol w="1500000"/>
                <a:gridCol w="39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뜻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작업 단위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스토리 하나의 일부 — 30분 안에 끝나고 눈으로 확인되는 크기 (PART 1)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커밋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"되는 상태"의 스냅샷. 메시지 앞 </a:t>
                      </a:r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US-N: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으로 </a:t>
                      </a:r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SPEC.md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와 연결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restore &lt;파일&gt;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— AI가 망친 파일을 마지막 커밋으로. 더 이전은 </a:t>
                      </a:r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log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의 해시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짝 리뷰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옆 사람과 </a:t>
                      </a:r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diff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를 서로 읽고 실행해 본다 — 20분 지점과 중간 데모 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세션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claude -c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이어서 / </a:t>
                      </a:r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/clear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새로. 작업이 바뀌면 </a:t>
                      </a:r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/clear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— 옛 맥락이 새 요청을 오염시킨다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2000" y="4200000"/>
            <a:ext cx="5400000" cy="7715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2000" y="4260000"/>
            <a:ext cx="50000" cy="651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2000" y="4300000"/>
            <a:ext cx="50600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루프와 Git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AI에게 파일을 고치라고 하기 전에 커밋.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 "잘 되던 게 갑자기 안 된다"의 해답이 </a:t>
            </a:r>
            <a:r>
              <a:rPr sz="1000" b="0" i="0">
                <a:solidFill>
                  <a:srgbClr val="1F4E79"/>
                </a:solidFill>
                <a:latin typeface="맑은 고딕"/>
                <a:ea typeface="맑은 고딕"/>
              </a:rPr>
              <a:t>git restore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 한 줄이 된다. Claude Code가 커밋을 대신 해 주기도 하지만 </a:t>
            </a: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되돌리는 결정은 사람이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97379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혼자서도 협업처럼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동시 편집 충돌 — 편집기와 Claude Code가 같은 파일을 열었을 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JupyterLab이 "File has changed on disk"를 띄우면 Claude Code가 그 파일을 먼저 저장한 것. 겁낼 것 없다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16084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00000" y="1490000"/>
            <a:ext cx="447040" cy="20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충돌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760000"/>
            <a:ext cx="5080000" cy="1740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상황: 내가 app.py 를 편집기에서 고치는 동안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      Claude Code 가 같은 app.py 를 저장했다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→ 저장 시 JupyterLab 대화상자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   "app.py has changed on disk … Overwrite / Revert"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해결 순서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1) Revert 하지 말고 내 편집 내용을 복사해 둔다 (Ctrl+A, Ctrl+C)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2) Revert → 디스크의 최신본(Claude 변경)을 본다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3) 내 변경을 다시 넣는다 — 또는 Claude Code에게 (오른쪽)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4) 실행 확인 → git add → git 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2000" y="1400000"/>
            <a:ext cx="5400000" cy="1504504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372000" y="1490000"/>
            <a:ext cx="940816" cy="20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AI에게 시키기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2000" y="1760000"/>
            <a:ext cx="5080000" cy="1084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app.py 에 두 변경을 합쳐야 한다.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[현재 파일] 디스크의 app.py (네가 방금 저장한 최신본)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[내 변경] (복사해 둔 내 편집본 붙여넣기)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[의도] 네가 바꾼 제목·import 는 유지하고,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  내 사이드바 필터 로직을 추가해라. 다른 줄은 건드리지 마라.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[출력] 합친 app.py 전체 + 무엇을 합쳤는지 3줄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32000" y="3000000"/>
          <a:ext cx="5400000" cy="1500000"/>
        </p:xfrm>
        <a:graphic>
          <a:graphicData uri="http://schemas.openxmlformats.org/drawingml/2006/table">
            <a:tbl>
              <a:tblPr firstRow="0" bandRow="0"/>
              <a:tblGrid>
                <a:gridCol w="1700000"/>
                <a:gridCol w="3700000"/>
              </a:tblGrid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충돌을 줄이는 습관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한 번에 한 도구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Claude Code가 고치는 동안 편집기에서 같은 파일을 만지지 않는다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파일을 역할별로 분리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화면·로직·데이터가 다른 파일 (3주차 구조)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작게 자주 커밋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되돌릴 지점이 많아진다 (</a:t>
                      </a:r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restore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요청에 파일 지정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"pages/1_*.py 만 수정" — 다른 파일을 건드리지 않게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60000" y="4300000"/>
            <a:ext cx="5400000" cy="77150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0000" y="4360000"/>
            <a:ext cx="50000" cy="651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0000" y="4400000"/>
            <a:ext cx="50600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맑은 고딕"/>
                <a:ea typeface="맑은 고딕"/>
              </a:rPr>
              <a:t>실무에서 이렇게 틀린다 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합친 결과가 맞는지는 실행으로 확인.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 두 스토리 모두 동작해야 커밋. 확인 없이 커밋·재시작하면 시연용 앱이 깨진다 — 되돌리기는 </a:t>
            </a:r>
            <a:r>
              <a:rPr sz="1000" b="0" i="0">
                <a:solidFill>
                  <a:srgbClr val="1F4E79"/>
                </a:solidFill>
                <a:latin typeface="맑은 고딕"/>
                <a:ea typeface="맑은 고딕"/>
              </a:rPr>
              <a:t>git restore app.py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 또는 </a:t>
            </a:r>
            <a:r>
              <a:rPr sz="1000" b="0" i="0">
                <a:solidFill>
                  <a:srgbClr val="1F4E79"/>
                </a:solidFill>
                <a:latin typeface="맑은 고딕"/>
                <a:ea typeface="맑은 고딕"/>
              </a:rPr>
              <a:t>git log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로 직전 커밋.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97379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혼자서도 협업처럼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개인 작업 규칙 다섯 가지 — README에 적고 오늘부터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규칙은 적을수록 지켜진다. 이 다섯 개면 4주차와 3단계 통합까지 충분하다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413385"/>
        </p:xfrm>
        <a:graphic>
          <a:graphicData uri="http://schemas.openxmlformats.org/drawingml/2006/table">
            <a:tbl>
              <a:tblPr firstRow="0" bandRow="0"/>
              <a:tblGrid>
                <a:gridCol w="500000"/>
                <a:gridCol w="3300000"/>
                <a:gridCol w="72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이유 · 방법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작업 하나 → 실행 확인 → 커밋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SPEC.md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의 순서표가 곧 커밋 목록. 커밋 없는 작업은 되돌릴 수 없다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커밋 메시지 앞에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US-N: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log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만 봐도 어느 스토리가 어디까지 됐는지 보인다 (중간 데모 근거)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되는 상태에서만 앱 재시작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전체 실행 → 앱 터미널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Ctrl+C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streamlit run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. 깨지면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restore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38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패키지를 추가하면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pip install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+ requirements.txt 같은 커밋에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내 계정에 설치되어 유지된다. requirements.txt는 재설치·3단계 이관용 기록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비밀값은 코드에 쓰지 않는다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.streamlit/secrets.toml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(.gitignore) — 공용 서버(관리자 열람 가능)이니 </a:t>
                      </a:r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수업용 키만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, 개인 키 금지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900000"/>
            <a:ext cx="5400000" cy="134042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00000" y="3990000"/>
            <a:ext cx="873760" cy="20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.gitignore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260000"/>
            <a:ext cx="5080000" cy="9204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.gitignore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__pycache__/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.streamlit/secrets.toml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app.log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*.pyc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3900000"/>
            <a:ext cx="5400000" cy="1504504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372000" y="3990000"/>
            <a:ext cx="684784" cy="20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2000" y="4260000"/>
            <a:ext cx="5080000" cy="1084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.streamlit/secrets.toml (Git 제외 · 수업용 키만)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API_URL = "http://localhost:8000"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WEATHER_KEY = "xxxx"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코드에서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key = st.secrets["WEATHER_KEY"]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AI 규칙과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요청할 때마다 다른 스타일의 코드가 나오면 합칠 수 없다 — 규칙 파일 하나로 편차를 줄인다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C0395F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프로젝트 AI 규칙 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품질 체크리스트 — 시연에서 터지는 다섯 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AI와 디버깅하는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AI 활용 기록 — 오늘 생기는 것을 오늘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67078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AI 규칙과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프로젝트 AI 규칙 파일 — [맥락]·[제약]을 파일로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내 폴더 루트의 </a:t>
            </a:r>
            <a:r>
              <a:rPr sz="1250" b="0" i="0">
                <a:solidFill>
                  <a:srgbClr val="1F4E79"/>
                </a:solidFill>
                <a:latin typeface="맑은 고딕"/>
                <a:ea typeface="맑은 고딕"/>
              </a:rPr>
              <a:t>CLAUDE.md</a:t>
            </a: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 — Claude Code가 매 요청마다 자동으로 읽는다. 2주차 6요소의 [맥락]·[제약]이 프롬프트마다 붙는 효과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696272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00000" y="1490000"/>
            <a:ext cx="713232" cy="20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규칙 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3232" y="1470000"/>
            <a:ext cx="4326768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~/work/churn_check/CLAUDE.md (예)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60000"/>
            <a:ext cx="5080000" cy="22762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00" b="0" i="0">
                <a:solidFill>
                  <a:srgbClr val="86EFAC"/>
                </a:solidFill>
                <a:latin typeface="Consolas"/>
                <a:ea typeface="Consolas"/>
              </a:rPr>
              <a:t># 프로젝트: 이탈 위험 체크 서비스 (Streamlit)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00" b="0" i="0">
                <a:solidFill>
                  <a:srgbClr val="86EFAC"/>
                </a:solidFill>
                <a:latin typeface="Consolas"/>
                <a:ea typeface="Consolas"/>
              </a:rPr>
              <a:t>## 구조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app.py 홈, pages/ 화면, core.py 로직(streamlit import 금지), data/ CSV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데이터 로드는 @st.cache_data, 경로는 app.py 기준 상대 경로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00" b="0" i="0">
                <a:solidFill>
                  <a:srgbClr val="86EFAC"/>
                </a:solidFill>
                <a:latin typeface="Consolas"/>
                <a:ea typeface="Consolas"/>
              </a:rPr>
              <a:t>## 코딩 규칙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Python 3, streamlit, pandas. 새 패키지는 설치하기 전에 먼저 물어볼 것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함수에는 한글 docstring, 화면 문구는 한국어 존댓말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빈 결과·잘못된 입력에서 오류 대신 st.warning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열 이름은 data/README.md의 목록만 사용 (지어내지 말 것)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00" b="0" i="0">
                <a:solidFill>
                  <a:srgbClr val="86EFAC"/>
                </a:solidFill>
                <a:latin typeface="Consolas"/>
                <a:ea typeface="Consolas"/>
              </a:rPr>
              <a:t>## 하지 말 것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요청한 파일 외 수정, 전체 재작성, 비밀값 하드코딩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이 폴더 밖의 파일 접근, rm -rf/sudo 실행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/>
            </a:r>
            <a:r>
              <a:rPr sz="900" b="0" i="0">
                <a:solidFill>
                  <a:srgbClr val="86EFAC"/>
                </a:solidFill>
                <a:latin typeface="Consolas"/>
                <a:ea typeface="Consolas"/>
              </a:rPr>
              <a:t>## 검증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- core.py 수정 시 python -m pytest 를 실행해 결과를 알려 줄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2000" y="140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무엇이 좋아지나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요청을 몇 번 하든 같은 구조·같은 문구·같은 검증. 2주차 6요소의 [맥락]·[제약]이 자동으로 붙는다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무엇을 넣나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구조 · 규칙 · 하지 말 것 · 검증 — </a:t>
            </a: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한 화면 분량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. 길면 무시된다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언제 고치나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AI가 같은 실수를 두 번 하면 그 자리에서 한 줄 추가. 커밋 메시지 "CLAUDE.md: 열 목록 추가"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공용 서버라서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"이 폴더 밖 접근 금지 · rm -rf/sudo 금지 · 새 패키지는 먼저 묻기"를 규칙 파일에 넣으면 허락 화면에서 </a:t>
            </a:r>
            <a:r>
              <a:rPr sz="1000" b="0" i="0">
                <a:solidFill>
                  <a:srgbClr val="1F4E79"/>
                </a:solidFill>
                <a:latin typeface="맑은 고딕"/>
                <a:ea typeface="맑은 고딕"/>
              </a:rPr>
              <a:t>n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을 누를 일이 줄어든다. 1주차 이용 규칙과 같은 내용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000" y="4100000"/>
            <a:ext cx="5400000" cy="390500"/>
          </a:xfrm>
          <a:prstGeom prst="roundRect">
            <a:avLst>
              <a:gd name="adj" fmla="val 8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2000" y="4160000"/>
            <a:ext cx="50000" cy="2705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2000" y="4200000"/>
            <a:ext cx="5060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체크포인트 1 통과 직후 </a:t>
            </a:r>
            <a:r>
              <a:rPr sz="1000" b="1" i="0">
                <a:solidFill>
                  <a:srgbClr val="1F2937"/>
                </a:solidFill>
                <a:latin typeface="맑은 고딕"/>
                <a:ea typeface="맑은 고딕"/>
              </a:rPr>
              <a:t>가장 먼저 만들 파일</a:t>
            </a: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. 5분 투자로 스프린트 두 번의 편차를 줄인다.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67078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AI 규칙과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품질 체크리스트 — 시연에서 터지는 다섯 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루브릭 "동작·완성도 30점"은 이 표로 채점된다. 중간 데모 전에 스스로, 그리고 짝이 점검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400000"/>
        </p:xfrm>
        <a:graphic>
          <a:graphicData uri="http://schemas.openxmlformats.org/drawingml/2006/table">
            <a:tbl>
              <a:tblPr firstRow="0" bandRow="0"/>
              <a:tblGrid>
                <a:gridCol w="2000000"/>
                <a:gridCol w="3800000"/>
                <a:gridCol w="5272000"/>
              </a:tblGrid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터지는 곳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예방 (프롬프트 [제약]에 넣을 문장)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빈 입력 · 빈 결과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KeyError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00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ZeroDivisionError</a:t>
                      </a:r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, 빈 차트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"입력이 비거나 필터 결과가 0행이어도 오류 없이 안내 문구"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범위 밖 값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음수 개월, 1,000달러 요금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"number_input에 min·max·기본값, 범위 밖은 경고"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파일 경로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내 PC에서만 열림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"경로는 app.py 기준 상대 경로, 절대 경로 금지"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상태 소실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버튼 누르면 결과가 사라짐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"결과는 session_state에 저장하고 버튼 밖에서 표시"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느림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위젯 하나에 3초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"데이터 로드·무거운 계산은 @st.cache_data"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050000"/>
            <a:ext cx="11072000" cy="6000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110000"/>
            <a:ext cx="50000" cy="480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150000"/>
            <a:ext cx="10732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실무에서 이렇게 틀린다 ③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중간 데모 전 5분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"깨뜨리기 테스트"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짝이 내 화면에 빈 값·극단값·빠른 연타를 넣어 본다. 발견한 것은 스프린트 2의 첫 작업. 발표 당일 청중이 대신 발견하게 두지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67078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AI 규칙과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AI와 디버깅하는 순서 — 재현 · 오류 전체 · 최소화 · 수정 ·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"안 돼요"를 AI에게 그대로 말하면 AI도 "다시 해 보세요"라고 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C0395F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재현
어떤 입력에서 항상?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64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864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C0395F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오류 전체
Traceback + 화면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28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128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C0395F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최소화
관련 파일·함수만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2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392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C0395F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수정 요청
원인 설명 먼저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56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656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C0395F"/>
                </a:solidFill>
                <a:latin typeface="맑은 고딕"/>
                <a:ea typeface="맑은 고딕"/>
              </a:rPr>
              <a:t>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테스트
같은 입력 재실행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00" y="2020000"/>
            <a:ext cx="5400000" cy="1763584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00000" y="2110000"/>
            <a:ext cx="1018032" cy="20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디버깅 프롬프트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2380000"/>
            <a:ext cx="5080000" cy="13435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[증상] 데이터 탐색 화면에서 계약 유형을 전부 해제하면 앱이 멈춤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[재현] multiselect를 비운 직후, 항상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[오류] ValueError: cannot convert float NaN to integer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  File "pages/1_데이터_탐색.py", line 27, in &lt;module&gt;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    c1.metric("고객 수", f"{len(view):,}")  … (전체 붙여넣기)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[관련 코드] (pages/1_데이터_탐색.py 20~35행)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[요청] 먼저 원인을 2줄로 설명하고, 그 다음 최소 수정만 diff로.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  다른 화면은 건드리지 말 것.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32000" y="2020000"/>
          <a:ext cx="5400000" cy="1650000"/>
        </p:xfrm>
        <a:graphic>
          <a:graphicData uri="http://schemas.openxmlformats.org/drawingml/2006/table">
            <a:tbl>
              <a:tblPr firstRow="0" bandRow="0"/>
              <a:tblGrid>
                <a:gridCol w="1700000"/>
                <a:gridCol w="37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AI가 흔히 하는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대응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원인 없이 코드만 다시 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"원인 먼저"를 요청에 명시. 원인이 틀리면 수정도 틀리다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try/except로 덮어 버림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오류를 숨기는 수정은 거부 — "예외를 삼키지 말고 원인 처리"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관련 없는 부분까지 수정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diff만 받고 그 줄만 적용. 전체 파일 교체 금지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같은 제안 반복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맥락(데이터 샘플·버전)을 더 넣거나 문제를 더 쪼갠다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60000" y="445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0000" y="4510000"/>
            <a:ext cx="50000" cy="280025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0000" y="455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고친 뒤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같은 입력으로 재현이 사라졌는지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+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다른 Must 스토리가 여전히 되는지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둘 다 확인. 후자를 빼먹으면 스프린트 2에서 스프린트 1의 기능이 죽는다.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67078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AI 규칙과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AI 활용 기록 — 오늘 생기는 것을 오늘 적는다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1F4E79"/>
                </a:solidFill>
                <a:latin typeface="맑은 고딕"/>
                <a:ea typeface="맑은 고딕"/>
              </a:rPr>
              <a:t>templates/03_AI_활용_기록_템플릿.md</a:t>
            </a: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 → 내 폴더 </a:t>
            </a:r>
            <a:r>
              <a:rPr sz="1250" b="0" i="0">
                <a:solidFill>
                  <a:srgbClr val="1F4E79"/>
                </a:solidFill>
                <a:latin typeface="맑은 고딕"/>
                <a:ea typeface="맑은 고딕"/>
              </a:rPr>
              <a:t>AI_LOG.md</a:t>
            </a: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. 5주차 시연의 "AI 활용·배운 점" 1분이 여기서 나온다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650000"/>
        </p:xfrm>
        <a:graphic>
          <a:graphicData uri="http://schemas.openxmlformats.org/drawingml/2006/table">
            <a:tbl>
              <a:tblPr firstRow="0" bandRow="0"/>
              <a:tblGrid>
                <a:gridCol w="500000"/>
                <a:gridCol w="1200000"/>
                <a:gridCol w="1600000"/>
                <a:gridCol w="3100000"/>
                <a:gridCol w="3272000"/>
                <a:gridCol w="14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프롬프트 요약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검증 · 수정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채택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US-1 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규칙 파일 + 명세 US-1 그대로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기본값 85점 확인, 이력 열 순서 수정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수정 채택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1:05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동시 편집 합치기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최신본 + 내 변경 + 의도 명시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실행 후 두 스토리 확인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채택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1:30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NaN 오류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재현·오류 전체·관련 코드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try/except 제안 거부 → </a:t>
                      </a:r>
                      <a:r>
                        <a:rPr sz="9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if len(view)</a:t>
                      </a:r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거부 후 재요청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README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구조·실행법·앱 재시작 절차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경로 오타 수정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수정 채택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0000" y="355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언제 적나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커밋할 때 그 작업에서 쓴 프롬프트 1~3개를 함께. 나중에 몰아 쓰면 검증 내용이 사라진다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무엇이 점수인가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"거부한 제안"과 "AI가 틀린 사례"가 있는 기록 = 검증을 했다는 증거 (루브릭 15점)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000" y="3550000"/>
            <a:ext cx="5400000" cy="10001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3610000"/>
            <a:ext cx="50000" cy="8801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32000" y="3650000"/>
            <a:ext cx="5060000" cy="800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정직성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수업계획서 원칙: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수정 없이 그대로 제출 금지 · 허위 출처 금지 · 활용 사실 표기.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기록이 곧 표기이고, "수정" 열이 곧 증빙이다. 5주차 갤러리 Q&amp;A에서 교수가 이 파일을 열어 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워크숍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스프린트 1 (40분) → 짝 데모 → 스프린트 2 (30분) → 피드백 메모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스프린트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체크포인트 2 짝 데모 + 교수 순회 (1:20)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교수 피드백의 관점 — 루브릭 미리보기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스프린트 2 — 범위 조정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255014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워크숍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스프린트 1 (0:40~1:20) — 규칙 네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40분 뒤 "한 번은 끝까지 돌아가는" 상태가 목표. 예쁘게가 아니라 끝까지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100000"/>
        </p:xfrm>
        <a:graphic>
          <a:graphicData uri="http://schemas.openxmlformats.org/drawingml/2006/table">
            <a:tbl>
              <a:tblPr firstRow="0" bandRow="0"/>
              <a:tblGrid>
                <a:gridCol w="2400000"/>
                <a:gridCol w="8672000"/>
              </a:tblGrid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① 첫 10분은 뼈대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홈 + 빈 화면 +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core.py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함수 시그니처(반환값 고정) +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CLAUDE.md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+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SPEC.md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커밋. 여기까지 앱을 띄운다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② 스토리 하나씩 순서대로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US-1 로직 → 데이터 → 화면 → 커밋, 그다음 US-2. 세 개를 동시에 벌리면 하나도 안 끝난다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③ 20분 지점에 커밋 + 짝 리뷰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반쯤이라도 커밋 → 옆 사람과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diff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교환해 읽기(2분). "끝나면 커밋"은 되돌릴 지점을 없앤다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④ 막히면 10분 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10분 안에 못 풀면 짝 → TA·교수 호출 또는 범위 축소. 혼자 30분 고민은 워크숍의 1/3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0000" y="365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로직 (0:40~0:55)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core.py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함수 + 테스트 2개 → 커밋. Streamlit 없이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python -m pytest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데이터 (0:55~1:00)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열 이름·타입 정리 →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data/README.md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→ 규칙 파일에 열 목록 반영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화면 (1:00~1:15)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로직이 막혔으면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가짜 반환값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(dict 고정)으로 레이아웃부터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4F5BD5"/>
                </a:solidFill>
                <a:latin typeface="맑은 고딕"/>
                <a:ea typeface="맑은 고딕"/>
              </a:rPr>
              <a:t>운영 (1:15~1:20)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앱 재시작 → 내 앱 주소에서 Must 3개 확인 → 커밋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000" y="3650000"/>
            <a:ext cx="5400000" cy="80007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3710000"/>
            <a:ext cx="50000" cy="680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32000" y="3750000"/>
            <a:ext cx="5060000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순회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교수·TA는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자리 순으로 순회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(1인 2분). 질문은 모아 두었다가 순회 때 — 단, 10분 룰에 걸리면 손을 든다.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255014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워크숍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95014" y="300000"/>
            <a:ext cx="845820" cy="250000"/>
          </a:xfrm>
          <a:prstGeom prst="roundRect">
            <a:avLst>
              <a:gd name="adj" fmla="val 50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D97706"/>
                </a:solidFill>
                <a:latin typeface="맑은 고딕"/>
                <a:ea typeface="맑은 고딕"/>
              </a:rPr>
              <a:t>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체크포인트 2 (1:20) — 짝 데모 3분씩 교대 + 교수 순회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짝의 자리에서 짝의 화면으로 Must 스토리를 순서대로 눌러 본다. 설명 없이 클릭만 — 설명이 필요하면 UI가 부족한 것. 교수·TA는 손 든 자리 + 순회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0000" y="1400000"/>
          <a:ext cx="11072000" cy="2400000"/>
        </p:xfrm>
        <a:graphic>
          <a:graphicData uri="http://schemas.openxmlformats.org/drawingml/2006/table">
            <a:tbl>
              <a:tblPr firstRow="0" bandRow="0"/>
              <a:tblGrid>
                <a:gridCol w="2200000"/>
                <a:gridCol w="4300000"/>
                <a:gridCol w="4572000"/>
              </a:tblGrid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짝·교수가 보는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질문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대응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US-1~3이 끝까지 되나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"세 개 다 눌러 보세요"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하나라도 안 되면 스프린트 2는 그것부터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빈 값·극단값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"이걸 비우면요?" "999를 넣으면요?"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체크리스트 다섯 곳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 흐름 설명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"이 점수는 어디서 계산되나요?" "이 줄은 AI가 쓴 건데 무슨 뜻이에요?"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루브릭 "구현 이해도 20점"의 예행연습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범위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"5주차까지 남은 것은?"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Should 이하를 줄이거나 Must를 2개로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AI 기록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"AI가 틀렸던 것 하나만"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AI_LOG.md 열어서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0000" y="405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0000" y="4110000"/>
            <a:ext cx="50000" cy="280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0000" y="415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짝의 피드백을 내 노트에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세 줄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적는다: ① 지금 되는 것 ② 시연 전 반드시 고칠 것 1개 ③ 줄일 것. 이 메모가 5주차 시연 "배운 점"의 재료이자 체크포인트 3 제출물.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255014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워크숍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교수 피드백의 관점 — 5주차 루브릭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1F4E79"/>
                </a:solidFill>
                <a:latin typeface="맑은 고딕"/>
                <a:ea typeface="맑은 고딕"/>
              </a:rPr>
              <a:t>templates/04_1단계_평가_루브릭.md</a:t>
            </a: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. 중간 데모의 질문은 전부 이 표에서 나온다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160000"/>
        </p:xfrm>
        <a:graphic>
          <a:graphicData uri="http://schemas.openxmlformats.org/drawingml/2006/table">
            <a:tbl>
              <a:tblPr firstRow="0" bandRow="0"/>
              <a:tblGrid>
                <a:gridCol w="2000000"/>
                <a:gridCol w="800000"/>
                <a:gridCol w="4100000"/>
                <a:gridCol w="41720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배점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4점 (우수)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1점 (미흡)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동작·완성도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Must 전부 오류 없이, 예외 입력도 처리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불가·상시 오류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문제 정의·창의성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대상·문제·해결이 구체적이고 새로운 관점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문제 정의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구현 이해도 (Q&amp;A)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코드 구조·데이터 흐름·</a:t>
                      </a:r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AI가 쓴 부분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까지 본인이 설명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설명 불가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AI 활용 기록·정직성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프롬프트·검증·수정 구체적, AI 오류 사례 포함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기록 없음·그대로 제출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발표·시연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 구조(문제→시연→배운 점), 시나리오·백업 준비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준비 부족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850000"/>
            <a:ext cx="11072000" cy="800075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3910000"/>
            <a:ext cx="50000" cy="680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3950000"/>
            <a:ext cx="10732000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채점 규칙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개인 100점 → 20% 환산, 배율 없음.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시연 시간에 앱이 안 돌고 백업 영상도 없으면 동작·완성도 최대 2점.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"구현 이해도"는 AI가 쓴 줄을 골라 묻는다 — 오늘 짝 리뷰에서 내 코드를 남에게 설명해 볼 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255014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워크숍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스프린트 2 (1:30~1:50) — 고치기 · 줄이기 · 굳히기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새 기능을 시작하는 시간이 아니다. 짝 데모에서 나온 것 하나를 고치고, 내 폴더를 굳힌다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900000"/>
        </p:xfrm>
        <a:graphic>
          <a:graphicData uri="http://schemas.openxmlformats.org/drawingml/2006/table">
            <a:tbl>
              <a:tblPr firstRow="0" bandRow="0"/>
              <a:tblGrid>
                <a:gridCol w="1800000"/>
                <a:gridCol w="4600000"/>
                <a:gridCol w="46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우선순위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할 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끝나는 조건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 고치기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짝 데모 "반드시 고칠 것 1개"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같은 입력으로 재현 안 됨 + Must 3개 재확인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 굳히기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커밋 → 전체 실행 → 앱 재시작 → 내 앱 주소에서 확인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내 폴더 = 시연 앱 = 되는 상태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 기록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AI_LOG.md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에 오늘 프롬프트 ·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README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실행법 갱신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오늘 커밋 3개 이상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 (남으면) Should 하나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가장 작은 것. 새 파일에서만, 메뉴 연결은 5주차 전에 확인 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앱을 깨지 않음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550000"/>
            <a:ext cx="11072000" cy="800075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3610000"/>
            <a:ext cx="50000" cy="680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3650000"/>
            <a:ext cx="10732000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마감 규칙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1:50 체크포인트 3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노트 세 줄(되는 것 · 고칠 것 · 줄일 것) + 홈 화면 캡처·폴더 경로를 LMS에. 시연 전날 밤에 새 기능을 넣어 시연을 망치는 사람이 매 학기 있다 — 시연 24시간 전부터 내 폴더는 동결(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git tag stage1-final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정리와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오늘 배운 것 한 표, 그리고 5주차 발표 준비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4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2F855A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F855A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한 장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F855A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5주차 발표 형식 미리 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F855A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과제 — 발표 준비 체크리스트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워크숍의 도구들은 3단계 통합(11~15주)에서 그대로 다시 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720000"/>
        </p:xfrm>
        <a:graphic>
          <a:graphicData uri="http://schemas.openxmlformats.org/drawingml/2006/table">
            <a:tbl>
              <a:tblPr firstRow="0" bandRow="0"/>
              <a:tblGrid>
                <a:gridCol w="2000000"/>
                <a:gridCol w="5000000"/>
                <a:gridCol w="4072000"/>
              </a:tblGrid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산출물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기능 명세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스토리 + MoSCoW + 완료 조건 + 담당. Must 3개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SPEC.md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작업 분해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화면 · 로직 · 데이터 · 운영 — 30분 단위, 눈으로 확인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SPEC.md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진행표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커밋 리듬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작업 하나 → 실행 확인 →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US-N: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커밋. 되돌리기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restore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. 짝 리뷰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diff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log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동시 편집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Revert 전에 내 변경 복사 → 최신본에 합치기 → 실행 확인. AI에게는 의도를 명시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AI 규칙 파일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구조·규칙·금지·검증을 한 화면에. [맥락]·[제약] 자동화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CLAUDE.md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품질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빈 값 · 범위 · 경로 · 상태 · 속도 — 깨뜨리기 테스트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체크리스트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디버깅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재현 · 오류 전체 · 최소화 · 원인 먼저 · 재테스트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AI_LOG.md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5주차 시연 형식 미리 보기 — 갤러리 워크 3분 + 라이트닝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전원이 자기 자리에서 시연(30분 블록 2개, 학번 끝자리 홀수·짝수), 관람자는 이동하며 피드백. 교수·TA는 순회 Q&amp;A로 채점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F855A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문제 · 사용자
30초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64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864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F855A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라이브 시연
1분 30초 (내 자리 화면)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28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128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F855A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AI 활용 · 배운 점
30초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2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392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F855A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질문 · 피드백
30초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5600" y="14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65600" y="1430000"/>
            <a:ext cx="21664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F855A"/>
                </a:solidFill>
                <a:latin typeface="맑은 고딕"/>
                <a:ea typeface="맑은 고딕"/>
              </a:rPr>
              <a:t>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교수 Q&amp;A
별도 2~3분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0000" y="2020000"/>
          <a:ext cx="11072000" cy="2280000"/>
        </p:xfrm>
        <a:graphic>
          <a:graphicData uri="http://schemas.openxmlformats.org/drawingml/2006/table">
            <a:tbl>
              <a:tblPr firstRow="0" bandRow="0"/>
              <a:tblGrid>
                <a:gridCol w="2200000"/>
                <a:gridCol w="88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준비물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앱 실행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30분 전 서버 로그인 → 앱 터미널에서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streamlit run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→ 내 앱 주소에서 첫 로딩까지. 3일 자동 로그아웃에 걸렸으면 서버 시작부터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시나리오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입력값을 미리 정해 둔다 — 즉흥 입력은 오류의 온상. 종이에 순서 적기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백업 영상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흐름을 1~2분 화면 녹화 (Windows: Win+G / macOS: Cmd+Shift+5). 네트워크가 죽어도 발표는 산다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한 장 요약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슬라이드 대신 앱 홈 화면에 문제·사용자·Must 3개를 적어 둔다 — 갤러리에서는 슬라이드를 넘길 손이 없다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반복 준비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같은 3분을 5~8번 반복한다. 시나리오 종이를 옆에 두고, 관람자 양식은 이름 확인 후 모아 둔다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60000" y="440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0000" y="4460000"/>
            <a:ext cx="50000" cy="280025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0000" y="450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"AI 활용·배운 점" 30초는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AI_LOG.md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에서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틀렸던 사례 하나 + 그것을 어떻게 잡았나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채우면 가장 설득력 있다. 잘된 사례만 나열하면 검증을 안 했다는 인상을 준다. 교수 Q&amp;A에서 이 파일을 연다.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과제 — 5주차 시연 전까지 (개인)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새 기능은 없다. 굳히고, 기록하고, 연습한다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머신러닝 프로젝트 (RISE)  ·  4주차 · 프로젝트 개발 워크숍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280000"/>
        </p:xfrm>
        <a:graphic>
          <a:graphicData uri="http://schemas.openxmlformats.org/drawingml/2006/table">
            <a:tbl>
              <a:tblPr firstRow="0" bandRow="0"/>
              <a:tblGrid>
                <a:gridCol w="600000"/>
                <a:gridCol w="4400000"/>
                <a:gridCol w="3100000"/>
                <a:gridCol w="29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제출물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마감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2F855A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내 폴더 동결(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git tag stage1-final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) · 앱 실행 확인 · README 실행법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홈 화면 캡처 · 폴더 경로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24시간 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AI_LOG.md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완성 (핵심 10개 이내, 틀린 사례 포함) · </a:t>
                      </a:r>
                      <a:r>
                        <a:rPr sz="1050" b="0" i="0">
                          <a:solidFill>
                            <a:srgbClr val="1F4E79"/>
                          </a:solidFill>
                          <a:latin typeface="맑은 고딕"/>
                          <a:ea typeface="맑은 고딕"/>
                        </a:rPr>
                        <a:t>SPEC.md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최종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내 폴더 (커밋)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24시간 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시나리오(입력값 종이) · 백업 영상 1~2분 · 홈 화면에 문제·Must 3개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mp4 (LMS)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시연 전날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리허설 1회 — 타이머 켜고 3분, 예상 질문 3개(AI가 쓴 줄 설명 포함)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(제출 없음)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동료 피드백 양식(05) 미리 읽기 — 관람 때 3명 이상에게 쓴다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5주차 수업 중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850000"/>
            <a:ext cx="11072000" cy="80007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3910000"/>
            <a:ext cx="50000" cy="680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3950000"/>
            <a:ext cx="10732000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다음 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5주차 예고: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갤러리 시연 · 라이트닝 6명 · 상호 피드백 · 1단계 평가(20%)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— 학번 끝자리 홀수 블록 A(0:10), 짝수 블록 B(0:45). 동료 피드백 양식이 참여 점수에 포함. 마지막 25분에 회고와 2단계(ML 모델링·리더보드, 안홍렬 교수) 예고.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485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1B2A4A"/>
              </a:buClr>
              <a:buFont typeface="Arial"/>
              <a:buChar char="•"/>
            </a:pPr>
            <a:r>
              <a:rPr sz="950" b="0" i="0">
                <a:solidFill>
                  <a:srgbClr val="6B7280"/>
                </a:solidFill>
                <a:latin typeface="맑은 고딕"/>
                <a:ea typeface="맑은 고딕"/>
              </a:rPr>
              <a:t>참고: Pro Git 2판 2장 "Git Basics" · Claude Code Docs "Manage Claude's memory (CLAUDE.md)" · JupyterLab User Guide "Text editor" · Atlassian "Agile user stories"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